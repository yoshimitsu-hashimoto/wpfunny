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6c8161e96448b8" /><Relationship Type="http://schemas.openxmlformats.org/officeDocument/2006/relationships/extended-properties" Target="/docProps/app.xml" Id="R37ce23e9c4794bb0" /><Relationship Type="http://schemas.openxmlformats.org/officeDocument/2006/relationships/officeDocument" Target="/ppt/presentation.xml" Id="Rbe9e44c45a1e43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5343fb0c244654"/>
  </p:sldMasterIdLst>
  <p:notesMasterIdLst>
    <p:notesMasterId xmlns:r="http://schemas.openxmlformats.org/officeDocument/2006/relationships" r:id="Re2232eaddb6948f9"/>
  </p:notesMasterIdLst>
  <p:sldIdLst>
    <p:sldId xmlns:r="http://schemas.openxmlformats.org/officeDocument/2006/relationships" id="256" r:id="R0a3d0ced84a240d1"/>
    <p:sldId xmlns:r="http://schemas.openxmlformats.org/officeDocument/2006/relationships" id="257" r:id="Rc4ac00ef07314348"/>
    <p:sldId xmlns:r="http://schemas.openxmlformats.org/officeDocument/2006/relationships" id="258" r:id="R2783beaed1fe4947"/>
    <p:sldId xmlns:r="http://schemas.openxmlformats.org/officeDocument/2006/relationships" id="259" r:id="Rf4452e88b3ab4f92"/>
    <p:sldId xmlns:r="http://schemas.openxmlformats.org/officeDocument/2006/relationships" id="260" r:id="Rbcb6343b729145e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b49f012610445e" /><Relationship Type="http://schemas.openxmlformats.org/officeDocument/2006/relationships/slideMaster" Target="/ppt/slideMasters/slideMaster1.xml" Id="Rde5343fb0c244654" /><Relationship Type="http://schemas.openxmlformats.org/officeDocument/2006/relationships/notesMaster" Target="/ppt/notesMasters/notesMaster1.xml" Id="Re2232eaddb6948f9" /><Relationship Type="http://schemas.openxmlformats.org/officeDocument/2006/relationships/presProps" Target="/ppt/presProps.xml" Id="R5a432f66e8e74fca" /><Relationship Type="http://schemas.openxmlformats.org/officeDocument/2006/relationships/tableStyles" Target="/ppt/tableStyles.xml" Id="R06738a771fde47fb" /><Relationship Type="http://schemas.openxmlformats.org/officeDocument/2006/relationships/slide" Target="/ppt/slides/slide1.xml" Id="R0a3d0ced84a240d1" /><Relationship Type="http://schemas.openxmlformats.org/officeDocument/2006/relationships/slide" Target="/ppt/slides/slide2.xml" Id="Rc4ac00ef07314348" /><Relationship Type="http://schemas.openxmlformats.org/officeDocument/2006/relationships/slide" Target="/ppt/slides/slide3.xml" Id="R2783beaed1fe4947" /><Relationship Type="http://schemas.openxmlformats.org/officeDocument/2006/relationships/slide" Target="/ppt/slides/slide4.xml" Id="Rf4452e88b3ab4f92" /><Relationship Type="http://schemas.openxmlformats.org/officeDocument/2006/relationships/slide" Target="/ppt/slides/slide5.xml" Id="Rbcb6343b729145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460d30a2464f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96bbd36306419f" /><Relationship Type="http://schemas.openxmlformats.org/officeDocument/2006/relationships/notesMaster" Target="/ppt/notesMasters/notesMaster1.xml" Id="Rd505b405436d4f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7ae5d6c11c4924" /><Relationship Type="http://schemas.openxmlformats.org/officeDocument/2006/relationships/notesMaster" Target="/ppt/notesMasters/notesMaster1.xml" Id="Rd644b47fc1fe44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080604798c4821" /><Relationship Type="http://schemas.openxmlformats.org/officeDocument/2006/relationships/notesMaster" Target="/ppt/notesMasters/notesMaster1.xml" Id="R26e9a9ebcb6b40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5a4ebffa114e0b" /><Relationship Type="http://schemas.openxmlformats.org/officeDocument/2006/relationships/notesMaster" Target="/ppt/notesMasters/notesMaster1.xml" Id="R7faeec7859bf40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e69c9be1d54a47" /><Relationship Type="http://schemas.openxmlformats.org/officeDocument/2006/relationships/notesMaster" Target="/ppt/notesMasters/notesMaster1.xml" Id="R912c1a8f0b1340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今日は、今年自分が力を入れたいWordPress開発のテーマについて話します。</a:t>
            </a:r>
          </a:p>
          <a:p xmlns:a="http://schemas.openxmlformats.org/drawingml/2006/main">
            <a:r>
              <a:t>結論から言うと、クラシックテーマ中心だった自分の作り方を、ブロックエディター前提にアップデートしていきたい、という話です。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株式会社GO-IKUの橋本義光です。今年3月に法人化したばかりです。</a:t>
            </a:r>
          </a:p>
          <a:p xmlns:a="http://schemas.openxmlformats.org/drawingml/2006/main">
            <a:r>
              <a:t>Udemy講座、サロン、YouTubeなど、WordPressを学ぶ人向けに発信しています。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これまではクラシックテーマ中心で、PHPを書いてテンプレートを作る開発がメインでした。</a:t>
            </a:r>
          </a:p>
          <a:p xmlns:a="http://schemas.openxmlformats.org/drawingml/2006/main">
            <a:r>
              <a:t>もちろんそれで案件も教材も作ってきました。ただ、今のWordPressを考えると、それだけでは足りないと感じています。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今年はブロックエディターを使った開発に力を入れます。</a:t>
            </a:r>
          </a:p>
          <a:p xmlns:a="http://schemas.openxmlformats.org/drawingml/2006/main">
            <a:r>
              <a:t>具体的には、ハイブリッドテーマ、ブロックテーマ、theme.json、パターン、テンプレート編集まわりをしっかり学びたいです。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ブロックエディターはWordPressの大きな特徴であり、編集体験まで含めて価値だと思っています。</a:t>
            </a:r>
          </a:p>
          <a:p xmlns:a="http://schemas.openxmlformats.org/drawingml/2006/main">
            <a:r>
              <a:t>なので学んだことは案件で使い、Udemyやサロンでも伝えていきたいです。</a:t>
            </a:r>
          </a:p>
          <a:p xmlns:a="http://schemas.openxmlformats.org/drawingml/2006/main">
            <a:r>
              <a:t>クラシックテーマの知識を捨てるのではなく、それを土台にして、今のWordPress開発を身につけていきます。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79e82d8b1d47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5c6c2990164c51" /><Relationship Type="http://schemas.openxmlformats.org/officeDocument/2006/relationships/slideLayout" Target="/ppt/slideLayouts/slideLayout1.xml" Id="R2b87996a858240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87996a858240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ce8a901de74c91" /><Relationship Type="http://schemas.openxmlformats.org/officeDocument/2006/relationships/notesSlide" Target="/ppt/notesSlides/notesSlide1.xml" Id="R475cf7094f6243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3394c4ae7543d9" /><Relationship Type="http://schemas.openxmlformats.org/officeDocument/2006/relationships/notesSlide" Target="/ppt/notesSlides/notesSlide2.xml" Id="R3e384875479e41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63e6e63094792" /><Relationship Type="http://schemas.openxmlformats.org/officeDocument/2006/relationships/notesSlide" Target="/ppt/notesSlides/notesSlide3.xml" Id="R821cc693e9434f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1838dd4bc34add" /><Relationship Type="http://schemas.openxmlformats.org/officeDocument/2006/relationships/notesSlide" Target="/ppt/notesSlides/notesSlide4.xml" Id="Rf0687514f17944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8f0a4ac144647" /><Relationship Type="http://schemas.openxmlformats.org/officeDocument/2006/relationships/notesSlide" Target="/ppt/notesSlides/notesSlide5.xml" Id="Rfceb0055a07f48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band">
            <a:extLst xmlns:a="http://schemas.openxmlformats.org/drawingml/2006/main">
              <a:ext uri="{FF2B5EF4-FFF2-40B4-BE49-F238E27FC236}">
                <a16:creationId xmlns:a16="http://schemas.microsoft.com/office/drawing/2014/main" id="{32FB0689-F1A3-456F-885A-8614E9E6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95700"/>
            <a:ext cx="121920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2" name="accent">
            <a:extLst xmlns:a="http://schemas.openxmlformats.org/drawingml/2006/main">
              <a:ext uri="{FF2B5EF4-FFF2-40B4-BE49-F238E27FC236}">
                <a16:creationId xmlns:a16="http://schemas.microsoft.com/office/drawing/2014/main" id="{D23BB3EF-5822-4DD8-A007-39700379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8454CA0-E7D8-41AB-A210-BCCED8D1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9525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t>WordPress の作り方を、</a:t>
            </a:r>
          </a:p>
          <a:p xmlns:a="http://schemas.openxmlformats.org/drawingml/2006/main">
            <a:pPr>
              <a:defRPr sz="48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t>今年アップデートする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3D7571F-B263-4D65-A77C-D86D4553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7239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55555"/>
                </a:solidFill>
                <a:latin typeface="Hiragino Sans"/>
                <a:ea typeface="Hiragino Sans"/>
                <a:cs typeface="Hiragino Sans"/>
              </a:defRPr>
            </a:pPr>
            <a:r>
              <a:t>5分LT / ブロックエディター開発に向き合う</a:t>
            </a:r>
          </a:p>
        </p:txBody>
      </p:sp>
      <p:sp>
        <p:nvSpPr>
          <p:cNvPr id="5" name="cover-name">
            <a:extLst xmlns:a="http://schemas.openxmlformats.org/drawingml/2006/main">
              <a:ext uri="{FF2B5EF4-FFF2-40B4-BE49-F238E27FC236}">
                <a16:creationId xmlns:a16="http://schemas.microsoft.com/office/drawing/2014/main" id="{44B745AF-61C3-43F0-9BE1-8EB57462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34290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t>橋本義光</a:t>
            </a:r>
          </a:p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t>株式会社GO-IKU</a:t>
            </a:r>
          </a:p>
        </p:txBody>
      </p:sp>
      <p:sp>
        <p:nvSpPr>
          <p:cNvPr id="6" name="cover-keywords">
            <a:extLst xmlns:a="http://schemas.openxmlformats.org/drawingml/2006/main">
              <a:ext uri="{FF2B5EF4-FFF2-40B4-BE49-F238E27FC236}">
                <a16:creationId xmlns:a16="http://schemas.microsoft.com/office/drawing/2014/main" id="{494C22E4-B375-4BA9-9C66-7C38E877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86250"/>
            <a:ext cx="409575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t>Classic Theme</a:t>
            </a:r>
          </a:p>
          <a:p xmlns:a="http://schemas.openxmlformats.org/drawingml/2006/main">
            <a:pPr>
              <a:defRPr sz="1950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t>Block Editor</a:t>
            </a:r>
          </a:p>
          <a:p xmlns:a="http://schemas.openxmlformats.org/drawingml/2006/main">
            <a:pPr>
              <a:defRPr sz="1950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t>Hybrid / Block Theme</a:t>
            </a:r>
          </a:p>
        </p:txBody>
      </p:sp>
      <p:sp>
        <p:nvSpPr>
          <p:cNvPr id="7" name="footer-1">
            <a:extLst xmlns:a="http://schemas.openxmlformats.org/drawingml/2006/main">
              <a:ext uri="{FF2B5EF4-FFF2-40B4-BE49-F238E27FC236}">
                <a16:creationId xmlns:a16="http://schemas.microsoft.com/office/drawing/2014/main" id="{023C5DA5-62A6-401C-AB4A-D0B9CA6D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8650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555"/>
                </a:solidFill>
                <a:latin typeface="Hiragino Sans"/>
                <a:ea typeface="Hiragino Sans"/>
                <a:cs typeface="Hiragino Sans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878705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2">
            <a:extLst xmlns:a="http://schemas.openxmlformats.org/drawingml/2006/main">
              <a:ext uri="{FF2B5EF4-FFF2-40B4-BE49-F238E27FC236}">
                <a16:creationId xmlns:a16="http://schemas.microsoft.com/office/drawing/2014/main" id="{DFAF26A1-520F-492A-8CA7-80EEF628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  <a:latin typeface="Hiragino Sans"/>
                <a:ea typeface="Hiragino Sans"/>
                <a:cs typeface="Hiragino Sans"/>
              </a:defRPr>
            </a:pPr>
            <a:r>
              <a:t>ABOUT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04ECE49B-D5A3-4EC3-AF71-E346179E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0668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t>自己紹介</a:t>
            </a:r>
          </a:p>
        </p:txBody>
      </p:sp>
      <p:sp>
        <p:nvSpPr>
          <p:cNvPr id="3" name="metric-box-1">
            <a:extLst xmlns:a="http://schemas.openxmlformats.org/drawingml/2006/main">
              <a:ext uri="{FF2B5EF4-FFF2-40B4-BE49-F238E27FC236}">
                <a16:creationId xmlns:a16="http://schemas.microsoft.com/office/drawing/2014/main" id="{3115B6AC-D185-422B-AD89-38D4612B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2571750" cy="27241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DEDED"/>
          </a:solidFill>
        </p:spPr>
      </p:sp>
      <p:sp>
        <p:nvSpPr>
          <p:cNvPr id="4" name="metric-stat-1">
            <a:extLst xmlns:a="http://schemas.openxmlformats.org/drawingml/2006/main">
              <a:ext uri="{FF2B5EF4-FFF2-40B4-BE49-F238E27FC236}">
                <a16:creationId xmlns:a16="http://schemas.microsoft.com/office/drawing/2014/main" id="{492EFB2E-0B18-4ED2-8AD7-31F86AFA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20764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t>GO-IKU</a:t>
            </a:r>
          </a:p>
        </p:txBody>
      </p:sp>
      <p:sp>
        <p:nvSpPr>
          <p:cNvPr id="5" name="metric-body-1">
            <a:extLst xmlns:a="http://schemas.openxmlformats.org/drawingml/2006/main">
              <a:ext uri="{FF2B5EF4-FFF2-40B4-BE49-F238E27FC236}">
                <a16:creationId xmlns:a16="http://schemas.microsoft.com/office/drawing/2014/main" id="{C11FC61C-3959-44A5-B8C8-B273F97B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20383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t>2026年3月に法人設立</a:t>
            </a:r>
          </a:p>
        </p:txBody>
      </p:sp>
      <p:sp>
        <p:nvSpPr>
          <p:cNvPr id="6" name="metric-box-2">
            <a:extLst xmlns:a="http://schemas.openxmlformats.org/drawingml/2006/main">
              <a:ext uri="{FF2B5EF4-FFF2-40B4-BE49-F238E27FC236}">
                <a16:creationId xmlns:a16="http://schemas.microsoft.com/office/drawing/2014/main" id="{66D1F30A-32E4-4BBF-A739-4701ED7C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228850"/>
            <a:ext cx="2571750" cy="27241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DEDED"/>
          </a:solidFill>
        </p:spPr>
      </p:sp>
      <p:sp>
        <p:nvSpPr>
          <p:cNvPr id="7" name="metric-stat-2">
            <a:extLst xmlns:a="http://schemas.openxmlformats.org/drawingml/2006/main">
              <a:ext uri="{FF2B5EF4-FFF2-40B4-BE49-F238E27FC236}">
                <a16:creationId xmlns:a16="http://schemas.microsoft.com/office/drawing/2014/main" id="{D4327561-8113-4B37-9EF6-5501FB4D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457450"/>
            <a:ext cx="20764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t>9本</a:t>
            </a:r>
          </a:p>
        </p:txBody>
      </p:sp>
      <p:sp>
        <p:nvSpPr>
          <p:cNvPr id="8" name="metric-body-2">
            <a:extLst xmlns:a="http://schemas.openxmlformats.org/drawingml/2006/main">
              <a:ext uri="{FF2B5EF4-FFF2-40B4-BE49-F238E27FC236}">
                <a16:creationId xmlns:a16="http://schemas.microsoft.com/office/drawing/2014/main" id="{55B9318C-D5BB-4323-8455-B7CAB36F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762375"/>
            <a:ext cx="20383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t>Udemy講座を公開</a:t>
            </a:r>
          </a:p>
        </p:txBody>
      </p:sp>
      <p:sp>
        <p:nvSpPr>
          <p:cNvPr id="9" name="metric-box-3">
            <a:extLst xmlns:a="http://schemas.openxmlformats.org/drawingml/2006/main">
              <a:ext uri="{FF2B5EF4-FFF2-40B4-BE49-F238E27FC236}">
                <a16:creationId xmlns:a16="http://schemas.microsoft.com/office/drawing/2014/main" id="{2AC77B00-FD84-4C8A-8F71-C4CFA372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28850"/>
            <a:ext cx="2571750" cy="27241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DEDED"/>
          </a:solidFill>
        </p:spPr>
      </p:sp>
      <p:sp>
        <p:nvSpPr>
          <p:cNvPr id="10" name="metric-stat-3">
            <a:extLst xmlns:a="http://schemas.openxmlformats.org/drawingml/2006/main">
              <a:ext uri="{FF2B5EF4-FFF2-40B4-BE49-F238E27FC236}">
                <a16:creationId xmlns:a16="http://schemas.microsoft.com/office/drawing/2014/main" id="{A3EAD688-1267-4B9F-B498-3E031F33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57450"/>
            <a:ext cx="20764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t>65名</a:t>
            </a:r>
          </a:p>
        </p:txBody>
      </p:sp>
      <p:sp>
        <p:nvSpPr>
          <p:cNvPr id="11" name="metric-body-3">
            <a:extLst xmlns:a="http://schemas.openxmlformats.org/drawingml/2006/main">
              <a:ext uri="{FF2B5EF4-FFF2-40B4-BE49-F238E27FC236}">
                <a16:creationId xmlns:a16="http://schemas.microsoft.com/office/drawing/2014/main" id="{38D43810-1DBC-446E-8411-930E51DF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62375"/>
            <a:ext cx="20383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t>WordPress学習サロンを運営</a:t>
            </a:r>
          </a:p>
        </p:txBody>
      </p:sp>
      <p:sp>
        <p:nvSpPr>
          <p:cNvPr id="12" name="metric-box-4">
            <a:extLst xmlns:a="http://schemas.openxmlformats.org/drawingml/2006/main">
              <a:ext uri="{FF2B5EF4-FFF2-40B4-BE49-F238E27FC236}">
                <a16:creationId xmlns:a16="http://schemas.microsoft.com/office/drawing/2014/main" id="{767C26F3-1868-4CE1-A43B-8ACE720F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228850"/>
            <a:ext cx="2571750" cy="27241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DEDED"/>
          </a:solidFill>
        </p:spPr>
      </p:sp>
      <p:sp>
        <p:nvSpPr>
          <p:cNvPr id="13" name="metric-stat-4">
            <a:extLst xmlns:a="http://schemas.openxmlformats.org/drawingml/2006/main">
              <a:ext uri="{FF2B5EF4-FFF2-40B4-BE49-F238E27FC236}">
                <a16:creationId xmlns:a16="http://schemas.microsoft.com/office/drawing/2014/main" id="{74AF378B-EDA3-447D-83F0-F9DE311A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457450"/>
            <a:ext cx="20764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t>1,000人</a:t>
            </a:r>
          </a:p>
        </p:txBody>
      </p:sp>
      <p:sp>
        <p:nvSpPr>
          <p:cNvPr id="14" name="metric-body-4">
            <a:extLst xmlns:a="http://schemas.openxmlformats.org/drawingml/2006/main">
              <a:ext uri="{FF2B5EF4-FFF2-40B4-BE49-F238E27FC236}">
                <a16:creationId xmlns:a16="http://schemas.microsoft.com/office/drawing/2014/main" id="{B89EDA9B-52FB-4EEA-9970-51002137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762375"/>
            <a:ext cx="20383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t>YouTube登録者数を達成</a:t>
            </a:r>
          </a:p>
        </p:txBody>
      </p:sp>
      <p:sp>
        <p:nvSpPr>
          <p:cNvPr id="15" name="bottom-rule">
            <a:extLst xmlns:a="http://schemas.openxmlformats.org/drawingml/2006/main">
              <a:ext uri="{FF2B5EF4-FFF2-40B4-BE49-F238E27FC236}">
                <a16:creationId xmlns:a16="http://schemas.microsoft.com/office/drawing/2014/main" id="{C5F75B3E-6FD2-4D2D-BAF6-723C5DDC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57850"/>
            <a:ext cx="12192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16" name="profile-message">
            <a:extLst xmlns:a="http://schemas.openxmlformats.org/drawingml/2006/main">
              <a:ext uri="{FF2B5EF4-FFF2-40B4-BE49-F238E27FC236}">
                <a16:creationId xmlns:a16="http://schemas.microsoft.com/office/drawing/2014/main" id="{A672D229-5C75-4E55-A004-3083F4BE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9334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9798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t>WordPressを「学ぶ人」に向けて、教材・コミュニティ・動画で発信しています。</a:t>
            </a:r>
          </a:p>
        </p:txBody>
      </p:sp>
      <p:sp>
        <p:nvSpPr>
          <p:cNvPr id="17" name="footer-2">
            <a:extLst xmlns:a="http://schemas.openxmlformats.org/drawingml/2006/main">
              <a:ext uri="{FF2B5EF4-FFF2-40B4-BE49-F238E27FC236}">
                <a16:creationId xmlns:a16="http://schemas.microsoft.com/office/drawing/2014/main" id="{E38C3425-B8F4-474D-B9AE-0BBA428B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8650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555"/>
                </a:solidFill>
                <a:latin typeface="Hiragino Sans"/>
                <a:ea typeface="Hiragino Sans"/>
                <a:cs typeface="Hiragino Sans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355282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3">
            <a:extLst xmlns:a="http://schemas.openxmlformats.org/drawingml/2006/main">
              <a:ext uri="{FF2B5EF4-FFF2-40B4-BE49-F238E27FC236}">
                <a16:creationId xmlns:a16="http://schemas.microsoft.com/office/drawing/2014/main" id="{B2FE06FD-79EF-4BC2-B03C-3A364E4D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  <a:latin typeface="Hiragino Sans"/>
                <a:ea typeface="Hiragino Sans"/>
                <a:cs typeface="Hiragino Sans"/>
              </a:defRPr>
            </a:pPr>
            <a:r>
              <a:t>CURRENT STYLE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F980A665-3D58-497E-BF04-E7D8FC60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0668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t>これまでの自分</a:t>
            </a:r>
          </a:p>
        </p:txBody>
      </p:sp>
      <p:sp>
        <p:nvSpPr>
          <p:cNvPr id="3" name="past-main">
            <a:extLst xmlns:a="http://schemas.openxmlformats.org/drawingml/2006/main">
              <a:ext uri="{FF2B5EF4-FFF2-40B4-BE49-F238E27FC236}">
                <a16:creationId xmlns:a16="http://schemas.microsoft.com/office/drawing/2014/main" id="{250DFCC2-A5DA-4177-9955-452CA0F4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4953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t>クラシックテーマ中心</a:t>
            </a:r>
          </a:p>
        </p:txBody>
      </p:sp>
      <p:sp>
        <p:nvSpPr>
          <p:cNvPr id="4" name="past-sub">
            <a:extLst xmlns:a="http://schemas.openxmlformats.org/drawingml/2006/main">
              <a:ext uri="{FF2B5EF4-FFF2-40B4-BE49-F238E27FC236}">
                <a16:creationId xmlns:a16="http://schemas.microsoft.com/office/drawing/2014/main" id="{F280D3DE-8DDF-4124-A388-AA391C75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57575"/>
            <a:ext cx="53340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t>PHPでテンプレートを書き、</a:t>
            </a:r>
          </a:p>
          <a:p xmlns:a="http://schemas.openxmlformats.org/drawingml/2006/main">
            <a:pPr>
              <a:defRPr sz="2100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t>WordPressサイトを作るスタイルがメイン</a:t>
            </a:r>
          </a:p>
        </p:txBody>
      </p:sp>
      <p:sp>
        <p:nvSpPr>
          <p:cNvPr id="5" name="past-panel">
            <a:extLst xmlns:a="http://schemas.openxmlformats.org/drawingml/2006/main">
              <a:ext uri="{FF2B5EF4-FFF2-40B4-BE49-F238E27FC236}">
                <a16:creationId xmlns:a16="http://schemas.microsoft.com/office/drawing/2014/main" id="{E3E2D2AE-B821-4231-A3BC-1FF8742F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38350"/>
            <a:ext cx="51816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6" name="past-panel-title">
            <a:extLst xmlns:a="http://schemas.openxmlformats.org/drawingml/2006/main">
              <a:ext uri="{FF2B5EF4-FFF2-40B4-BE49-F238E27FC236}">
                <a16:creationId xmlns:a16="http://schemas.microsoft.com/office/drawing/2014/main" id="{3C2655CA-323A-4930-91D7-F05B522F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38400"/>
            <a:ext cx="4000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t>できていたこと</a:t>
            </a:r>
          </a:p>
        </p:txBody>
      </p:sp>
      <p:sp>
        <p:nvSpPr>
          <p:cNvPr id="7" name="past-panel-list">
            <a:extLst xmlns:a="http://schemas.openxmlformats.org/drawingml/2006/main">
              <a:ext uri="{FF2B5EF4-FFF2-40B4-BE49-F238E27FC236}">
                <a16:creationId xmlns:a16="http://schemas.microsoft.com/office/drawing/2014/main" id="{DD6C4BFD-E542-4E9F-8E21-539F2BA7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24200"/>
            <a:ext cx="4000500" cy="156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t>案件で使う</a:t>
            </a:r>
          </a:p>
          <a:p xmlns:a="http://schemas.openxmlformats.org/drawingml/2006/main">
            <a:pPr>
              <a:defRPr sz="2400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t>教材にする</a:t>
            </a:r>
          </a:p>
          <a:p xmlns:a="http://schemas.openxmlformats.org/drawingml/2006/main">
            <a:pPr>
              <a:defRPr sz="2400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t>受講生に教える</a:t>
            </a:r>
          </a:p>
        </p:txBody>
      </p:sp>
      <p:sp>
        <p:nvSpPr>
          <p:cNvPr id="8" name="past-accent">
            <a:extLst xmlns:a="http://schemas.openxmlformats.org/drawingml/2006/main">
              <a:ext uri="{FF2B5EF4-FFF2-40B4-BE49-F238E27FC236}">
                <a16:creationId xmlns:a16="http://schemas.microsoft.com/office/drawing/2014/main" id="{7836C0CD-0652-4ED9-8BA4-563909E9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38350"/>
            <a:ext cx="13335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9" name="footer-3">
            <a:extLst xmlns:a="http://schemas.openxmlformats.org/drawingml/2006/main">
              <a:ext uri="{FF2B5EF4-FFF2-40B4-BE49-F238E27FC236}">
                <a16:creationId xmlns:a16="http://schemas.microsoft.com/office/drawing/2014/main" id="{9C8C1335-0CD3-435C-978F-90E69A33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8650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555"/>
                </a:solidFill>
                <a:latin typeface="Hiragino Sans"/>
                <a:ea typeface="Hiragino Sans"/>
                <a:cs typeface="Hiragino Sans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733776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4">
            <a:extLst xmlns:a="http://schemas.openxmlformats.org/drawingml/2006/main">
              <a:ext uri="{FF2B5EF4-FFF2-40B4-BE49-F238E27FC236}">
                <a16:creationId xmlns:a16="http://schemas.microsoft.com/office/drawing/2014/main" id="{1F3328E7-1D5D-43C2-A3C7-D768C5BC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  <a:latin typeface="Hiragino Sans"/>
                <a:ea typeface="Hiragino Sans"/>
                <a:cs typeface="Hiragino Sans"/>
              </a:defRPr>
            </a:pPr>
            <a:r>
              <a:t>FOCUS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7EEE7DBD-9971-453A-A80C-9F511B1B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0668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t>今年注力したいこと</a:t>
            </a:r>
          </a:p>
        </p:txBody>
      </p:sp>
      <p:sp>
        <p:nvSpPr>
          <p:cNvPr id="3" name="focus-rule-1">
            <a:extLst xmlns:a="http://schemas.openxmlformats.org/drawingml/2006/main">
              <a:ext uri="{FF2B5EF4-FFF2-40B4-BE49-F238E27FC236}">
                <a16:creationId xmlns:a16="http://schemas.microsoft.com/office/drawing/2014/main" id="{8A96F5F3-4D8D-48F0-BBD7-9E5C716F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4" name="focus-num-1">
            <a:extLst xmlns:a="http://schemas.openxmlformats.org/drawingml/2006/main">
              <a:ext uri="{FF2B5EF4-FFF2-40B4-BE49-F238E27FC236}">
                <a16:creationId xmlns:a16="http://schemas.microsoft.com/office/drawing/2014/main" id="{666284B5-7A40-4901-8AD7-FF11F050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819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6B35"/>
                </a:solidFill>
                <a:latin typeface="Hiragino Sans"/>
                <a:ea typeface="Hiragino Sans"/>
                <a:cs typeface="Hiragino Sans"/>
              </a:defRPr>
            </a:pPr>
            <a:r>
              <a:t>01</a:t>
            </a:r>
          </a:p>
        </p:txBody>
      </p:sp>
      <p:sp>
        <p:nvSpPr>
          <p:cNvPr id="5" name="focus-body-1">
            <a:extLst xmlns:a="http://schemas.openxmlformats.org/drawingml/2006/main">
              <a:ext uri="{FF2B5EF4-FFF2-40B4-BE49-F238E27FC236}">
                <a16:creationId xmlns:a16="http://schemas.microsoft.com/office/drawing/2014/main" id="{8DAE59C3-5ED4-49AA-AEF6-66A77671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90750"/>
            <a:ext cx="723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t>ブロックエディターを使った開発</a:t>
            </a:r>
          </a:p>
        </p:txBody>
      </p:sp>
      <p:sp>
        <p:nvSpPr>
          <p:cNvPr id="6" name="focus-rule-2">
            <a:extLst xmlns:a="http://schemas.openxmlformats.org/drawingml/2006/main">
              <a:ext uri="{FF2B5EF4-FFF2-40B4-BE49-F238E27FC236}">
                <a16:creationId xmlns:a16="http://schemas.microsoft.com/office/drawing/2014/main" id="{06AB1456-4723-4703-9A9C-FE6EB051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7" name="focus-num-2">
            <a:extLst xmlns:a="http://schemas.openxmlformats.org/drawingml/2006/main">
              <a:ext uri="{FF2B5EF4-FFF2-40B4-BE49-F238E27FC236}">
                <a16:creationId xmlns:a16="http://schemas.microsoft.com/office/drawing/2014/main" id="{00B7F23B-E721-494E-AA6E-1B61BF11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819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6B35"/>
                </a:solidFill>
                <a:latin typeface="Hiragino Sans"/>
                <a:ea typeface="Hiragino Sans"/>
                <a:cs typeface="Hiragino Sans"/>
              </a:defRPr>
            </a:pPr>
            <a:r>
              <a:t>02</a:t>
            </a:r>
          </a:p>
        </p:txBody>
      </p:sp>
      <p:sp>
        <p:nvSpPr>
          <p:cNvPr id="8" name="focus-body-2">
            <a:extLst xmlns:a="http://schemas.openxmlformats.org/drawingml/2006/main">
              <a:ext uri="{FF2B5EF4-FFF2-40B4-BE49-F238E27FC236}">
                <a16:creationId xmlns:a16="http://schemas.microsoft.com/office/drawing/2014/main" id="{6936D33D-AABD-4DDA-8982-F0DACAEB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14700"/>
            <a:ext cx="723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t>ハイブリッドテーマ</a:t>
            </a:r>
          </a:p>
        </p:txBody>
      </p:sp>
      <p:sp>
        <p:nvSpPr>
          <p:cNvPr id="9" name="focus-rule-3">
            <a:extLst xmlns:a="http://schemas.openxmlformats.org/drawingml/2006/main">
              <a:ext uri="{FF2B5EF4-FFF2-40B4-BE49-F238E27FC236}">
                <a16:creationId xmlns:a16="http://schemas.microsoft.com/office/drawing/2014/main" id="{F59CDE80-ED58-4E42-9AFB-8BB35A78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720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0" name="focus-num-3">
            <a:extLst xmlns:a="http://schemas.openxmlformats.org/drawingml/2006/main">
              <a:ext uri="{FF2B5EF4-FFF2-40B4-BE49-F238E27FC236}">
                <a16:creationId xmlns:a16="http://schemas.microsoft.com/office/drawing/2014/main" id="{ADE67381-2F5F-4EEA-82CA-7BEB8A0E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819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6B35"/>
                </a:solidFill>
                <a:latin typeface="Hiragino Sans"/>
                <a:ea typeface="Hiragino Sans"/>
                <a:cs typeface="Hiragino Sans"/>
              </a:defRPr>
            </a:pPr>
            <a:r>
              <a:t>03</a:t>
            </a:r>
          </a:p>
        </p:txBody>
      </p:sp>
      <p:sp>
        <p:nvSpPr>
          <p:cNvPr id="11" name="focus-body-3">
            <a:extLst xmlns:a="http://schemas.openxmlformats.org/drawingml/2006/main">
              <a:ext uri="{FF2B5EF4-FFF2-40B4-BE49-F238E27FC236}">
                <a16:creationId xmlns:a16="http://schemas.microsoft.com/office/drawing/2014/main" id="{DA3FF923-9F93-420B-BC2C-AC3397A0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38650"/>
            <a:ext cx="723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t>ブロックテーマ</a:t>
            </a:r>
          </a:p>
        </p:txBody>
      </p:sp>
      <p:sp>
        <p:nvSpPr>
          <p:cNvPr id="12" name="focus-side">
            <a:extLst xmlns:a="http://schemas.openxmlformats.org/drawingml/2006/main">
              <a:ext uri="{FF2B5EF4-FFF2-40B4-BE49-F238E27FC236}">
                <a16:creationId xmlns:a16="http://schemas.microsoft.com/office/drawing/2014/main" id="{D5CA43FC-D4C4-44D9-9154-60136984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38350"/>
            <a:ext cx="257175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13" name="focus-keywords">
            <a:extLst xmlns:a="http://schemas.openxmlformats.org/drawingml/2006/main">
              <a:ext uri="{FF2B5EF4-FFF2-40B4-BE49-F238E27FC236}">
                <a16:creationId xmlns:a16="http://schemas.microsoft.com/office/drawing/2014/main" id="{FFDDCA42-494A-4E19-BCF7-73B64EC2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71750"/>
            <a:ext cx="20002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t>theme.json</a:t>
            </a:r>
          </a:p>
          <a:p xmlns:a="http://schemas.openxmlformats.org/drawingml/2006/main">
            <a:pPr>
              <a:defRPr sz="2100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t>patterns</a:t>
            </a:r>
          </a:p>
          <a:p xmlns:a="http://schemas.openxmlformats.org/drawingml/2006/main">
            <a:pPr>
              <a:defRPr sz="2100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t>templates</a:t>
            </a:r>
          </a:p>
        </p:txBody>
      </p:sp>
      <p:sp>
        <p:nvSpPr>
          <p:cNvPr id="14" name="footer-4">
            <a:extLst xmlns:a="http://schemas.openxmlformats.org/drawingml/2006/main">
              <a:ext uri="{FF2B5EF4-FFF2-40B4-BE49-F238E27FC236}">
                <a16:creationId xmlns:a16="http://schemas.microsoft.com/office/drawing/2014/main" id="{37228D37-C0E5-4D2D-AE5C-D26AFF1A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8650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555"/>
                </a:solidFill>
                <a:latin typeface="Hiragino Sans"/>
                <a:ea typeface="Hiragino Sans"/>
                <a:cs typeface="Hiragino Sans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635956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5">
            <a:extLst xmlns:a="http://schemas.openxmlformats.org/drawingml/2006/main">
              <a:ext uri="{FF2B5EF4-FFF2-40B4-BE49-F238E27FC236}">
                <a16:creationId xmlns:a16="http://schemas.microsoft.com/office/drawing/2014/main" id="{205250D7-65AB-4D21-A9D2-C4FE51F6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  <a:latin typeface="Hiragino Sans"/>
                <a:ea typeface="Hiragino Sans"/>
                <a:cs typeface="Hiragino Sans"/>
              </a:defRPr>
            </a:pPr>
            <a:r>
              <a:t>WHY / NEXT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131795A0-CD04-4C14-9E9D-0E4633A7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0668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t>なぜやるのか / どう活かすのか</a:t>
            </a:r>
          </a:p>
        </p:txBody>
      </p:sp>
      <p:sp>
        <p:nvSpPr>
          <p:cNvPr id="3" name="why-dot">
            <a:extLst xmlns:a="http://schemas.openxmlformats.org/drawingml/2006/main">
              <a:ext uri="{FF2B5EF4-FFF2-40B4-BE49-F238E27FC236}">
                <a16:creationId xmlns:a16="http://schemas.microsoft.com/office/drawing/2014/main" id="{E827558A-EBAA-4315-B133-57F7DA0C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4" name="why-main">
            <a:extLst xmlns:a="http://schemas.openxmlformats.org/drawingml/2006/main">
              <a:ext uri="{FF2B5EF4-FFF2-40B4-BE49-F238E27FC236}">
                <a16:creationId xmlns:a16="http://schemas.microsoft.com/office/drawing/2014/main" id="{BBE4AB68-8595-4856-B16A-A181455D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7286625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t>ブロックエディターは、WordPress最大の特徴のひとつ</a:t>
            </a:r>
          </a:p>
        </p:txBody>
      </p:sp>
      <p:sp>
        <p:nvSpPr>
          <p:cNvPr id="5" name="why-sub">
            <a:extLst xmlns:a="http://schemas.openxmlformats.org/drawingml/2006/main">
              <a:ext uri="{FF2B5EF4-FFF2-40B4-BE49-F238E27FC236}">
                <a16:creationId xmlns:a16="http://schemas.microsoft.com/office/drawing/2014/main" id="{CD69C79A-87AF-4438-B27C-08B0E5FB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723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55555"/>
                </a:solidFill>
                <a:latin typeface="Hiragino Sans"/>
                <a:ea typeface="Hiragino Sans"/>
                <a:cs typeface="Hiragino Sans"/>
              </a:defRPr>
            </a:pPr>
            <a:r>
              <a:t>管理画面で編集できる価値を、制作者側がもっと引き出せるようになりたい。</a:t>
            </a:r>
          </a:p>
        </p:txBody>
      </p:sp>
      <p:sp>
        <p:nvSpPr>
          <p:cNvPr id="6" name="next-panel">
            <a:extLst xmlns:a="http://schemas.openxmlformats.org/drawingml/2006/main">
              <a:ext uri="{FF2B5EF4-FFF2-40B4-BE49-F238E27FC236}">
                <a16:creationId xmlns:a16="http://schemas.microsoft.com/office/drawing/2014/main" id="{D6609F5C-BBEC-4228-9597-8C2CA866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8350"/>
            <a:ext cx="356235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7" name="next-list">
            <a:extLst xmlns:a="http://schemas.openxmlformats.org/drawingml/2006/main">
              <a:ext uri="{FF2B5EF4-FFF2-40B4-BE49-F238E27FC236}">
                <a16:creationId xmlns:a16="http://schemas.microsoft.com/office/drawing/2014/main" id="{46D49931-793C-4E85-85E3-115CA9EC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33650"/>
            <a:ext cx="27813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t>案件で使う</a:t>
            </a:r>
          </a:p>
          <a:p xmlns:a="http://schemas.openxmlformats.org/drawingml/2006/main">
            <a:pPr>
              <a:defRPr sz="225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t>Udemy講座にする</a:t>
            </a:r>
          </a:p>
          <a:p xmlns:a="http://schemas.openxmlformats.org/drawingml/2006/main">
            <a:pPr>
              <a:defRPr sz="225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t>サロンで共有する</a:t>
            </a:r>
          </a:p>
        </p:txBody>
      </p:sp>
      <p:sp>
        <p:nvSpPr>
          <p:cNvPr id="8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E3B87ACF-F9B8-4E8F-88A6-C9ED0803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113919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9" name="closing">
            <a:extLst xmlns:a="http://schemas.openxmlformats.org/drawingml/2006/main">
              <a:ext uri="{FF2B5EF4-FFF2-40B4-BE49-F238E27FC236}">
                <a16:creationId xmlns:a16="http://schemas.microsoft.com/office/drawing/2014/main" id="{6AA7409F-B1CA-4528-B907-771D81AA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9120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t>クラシックテーマの知識を土台に、ブロックエディター時代のWordPress開発を身につける</a:t>
            </a:r>
          </a:p>
        </p:txBody>
      </p:sp>
      <p:sp>
        <p:nvSpPr>
          <p:cNvPr id="10" name="footer-5">
            <a:extLst xmlns:a="http://schemas.openxmlformats.org/drawingml/2006/main">
              <a:ext uri="{FF2B5EF4-FFF2-40B4-BE49-F238E27FC236}">
                <a16:creationId xmlns:a16="http://schemas.microsoft.com/office/drawing/2014/main" id="{958D095A-FB52-454B-ADC0-03488EAD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8650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555"/>
                </a:solidFill>
                <a:latin typeface="Hiragino Sans"/>
                <a:ea typeface="Hiragino Sans"/>
                <a:cs typeface="Hiragino Sans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618261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2026-06-25T07:47:18.6710000Z</dcterms:created>
  <dcterms:modified xsi:type="dcterms:W3CDTF">2026-06-25T07:47:18.6710000Z</dcterms:modified>
</coreProperties>
</file>